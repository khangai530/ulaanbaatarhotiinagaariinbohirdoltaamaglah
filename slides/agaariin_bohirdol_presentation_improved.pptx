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 snapToObjects="1">
      <p:cViewPr varScale="1">
        <p:scale>
          <a:sx n="161" d="100"/>
          <a:sy n="161" d="100"/>
        </p:scale>
        <p:origin x="264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727026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3291840"/>
            <a:ext cx="9144000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1">
                <a:solidFill>
                  <a:srgbClr val="DEEBF7"/>
                </a:solidFill>
                <a:latin typeface="Calibri"/>
              </a:rPr>
              <a:t>МАГАДЛАЛ, СТАТИСТИКИЙН ТӨСЛИЙН АЖИЛ ·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8046720" cy="12801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Улаанбаатар хотын PM2.5
агаарын бохирдлын таамаглал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804672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0">
                <a:solidFill>
                  <a:srgbClr val="DEEBF7"/>
                </a:solidFill>
                <a:latin typeface="Calibri"/>
              </a:rPr>
              <a:t>Цаг агаарын өгөгдлөөр PM2.5-ийг таамаглах машин сургалтын загвар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611880"/>
            <a:ext cx="804672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1">
                <a:solidFill>
                  <a:srgbClr val="2E75B6"/>
                </a:solidFill>
                <a:latin typeface="Calibri"/>
              </a:rPr>
              <a:t>БАГИЙН ГИШҮҮД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931920"/>
            <a:ext cx="8046720" cy="8229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Д. Аахангай     ·     Б. Өсөхбаяр     ·     А. Баясгалан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841248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200" b="1">
                <a:solidFill>
                  <a:srgbClr val="1F4E79"/>
                </a:solidFill>
                <a:latin typeface="Calibri"/>
              </a:rPr>
              <a:t>1. Судалгааны зорилго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8368"/>
            <a:ext cx="841248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Calibri"/>
              </a:rPr>
              <a:t>Яагаад PM2.5-ийг цаг агаарын өгөгдлөөр таамаглах ёстой вэ?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987552"/>
            <a:ext cx="8321040" cy="15000"/>
          </a:xfrm>
          <a:prstGeom prst="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4937760" cy="30175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F4E79"/>
                </a:solidFill>
                <a:latin typeface="Calibri"/>
              </a:rPr>
              <a:t>Яагаад PM2.5 чухал вэ?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262626"/>
                </a:solidFill>
                <a:latin typeface="Calibri"/>
              </a:rPr>
              <a:t>PM2.5 нь 2.5 микрометрээс бага диаметртэй тоосонцор бөгөөд хүний эрүүл мэндэд хамгийн их сөрөг нөлөөтэй бохирдуулагч юм.</a:t>
            </a:r>
          </a:p>
          <a:p>
            <a:pPr algn="l">
              <a:lnSpc>
                <a:spcPct val="125000"/>
              </a:lnSpc>
            </a:pPr>
            <a:r>
              <a:rPr sz="600" b="0">
                <a:solidFill>
                  <a:srgbClr val="262626"/>
                </a:solidFill>
                <a:latin typeface="Calibri"/>
              </a:rPr>
              <a:t> </a:t>
            </a:r>
          </a:p>
          <a:p>
            <a:pPr algn="l">
              <a:lnSpc>
                <a:spcPct val="125000"/>
              </a:lnSpc>
            </a:pPr>
            <a:r>
              <a:rPr sz="1400" b="1">
                <a:solidFill>
                  <a:srgbClr val="1F4E79"/>
                </a:solidFill>
                <a:latin typeface="Calibri"/>
              </a:rPr>
              <a:t>Улаанбаатар ба өвлийн бохирдол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262626"/>
                </a:solidFill>
                <a:latin typeface="Calibri"/>
              </a:rPr>
              <a:t>Түлш түлдэг үед гэр хорооллын зуух, агаарын урвуу давхарга буюу температурын инверсийн үзэгдэл PM2.5-ийг ихсэхэд нөлөөлдөг.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0" y="1325880"/>
            <a:ext cx="3017520" cy="2286000"/>
          </a:xfrm>
          <a:prstGeom prst="roundRect">
            <a:avLst>
              <a:gd name="adj" fmla="val 6000"/>
            </a:avLst>
          </a:prstGeom>
          <a:solidFill>
            <a:srgbClr val="DEEBF7"/>
          </a:solidFill>
          <a:ln w="1587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806440" y="1463040"/>
            <a:ext cx="27432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1">
                <a:solidFill>
                  <a:srgbClr val="1F4E79"/>
                </a:solidFill>
                <a:latin typeface="Calibri"/>
              </a:rPr>
              <a:t>СУДАЛГААНЫ АСУУЛТ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06440" y="1874519"/>
            <a:ext cx="2743200" cy="1691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1F4E79"/>
                </a:solidFill>
                <a:latin typeface="Calibri"/>
              </a:rPr>
              <a:t>"Цаг агаарын өгөгдлөөр</a:t>
            </a:r>
          </a:p>
          <a:p>
            <a:pPr algn="l">
              <a:lnSpc>
                <a:spcPct val="120000"/>
              </a:lnSpc>
            </a:pPr>
            <a:r>
              <a:rPr sz="1700" b="1">
                <a:solidFill>
                  <a:srgbClr val="1F4E79"/>
                </a:solidFill>
                <a:latin typeface="Calibri"/>
              </a:rPr>
              <a:t>PM2.5-ийг таамаглаж</a:t>
            </a:r>
          </a:p>
          <a:p>
            <a:pPr algn="l">
              <a:lnSpc>
                <a:spcPct val="120000"/>
              </a:lnSpc>
            </a:pPr>
            <a:r>
              <a:rPr sz="1700" b="1">
                <a:solidFill>
                  <a:srgbClr val="1F4E79"/>
                </a:solidFill>
                <a:latin typeface="Calibri"/>
              </a:rPr>
              <a:t>болох уу?"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069080"/>
            <a:ext cx="82296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1">
                <a:solidFill>
                  <a:srgbClr val="2E75B6"/>
                </a:solidFill>
                <a:latin typeface="Calibri"/>
              </a:rPr>
              <a:t>Хүлээгдэж буй үр өгөөж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315968"/>
            <a:ext cx="82296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62626"/>
                </a:solidFill>
                <a:latin typeface="Calibri"/>
              </a:rPr>
              <a:t>Эрүүл мэндийн анхааруулга  ·  Богино хугацааны таамаглал  ·  Бодлого боловсруулагчдад нотолгоо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4828032"/>
            <a:ext cx="59436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Calibri"/>
              </a:rPr>
              <a:t>PM2.5 таамаглал · Магадлал Статистикийн Төсөл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4828032"/>
            <a:ext cx="9144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Calibri"/>
              </a:rPr>
              <a:t>2 / 22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841248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200" b="1">
                <a:solidFill>
                  <a:srgbClr val="1F4E79"/>
                </a:solidFill>
                <a:latin typeface="Calibri"/>
              </a:rPr>
              <a:t>2. Өгөгдлийн эх сурвалж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8368"/>
            <a:ext cx="841248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Calibri"/>
              </a:rPr>
              <a:t>Open-Meteo нээлттэй API · 2019–2024 · цагийн нарийвчлал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987552"/>
            <a:ext cx="8321040" cy="15000"/>
          </a:xfrm>
          <a:prstGeom prst="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4069080" cy="1874519"/>
          </a:xfrm>
          <a:prstGeom prst="roundRect">
            <a:avLst>
              <a:gd name="adj" fmla="val 6000"/>
            </a:avLst>
          </a:prstGeom>
          <a:solidFill>
            <a:srgbClr val="DEEBF7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3749039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  <a:latin typeface="Calibri"/>
              </a:rPr>
              <a:t>Open-Meteo Weather API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3749039" cy="13258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262626"/>
                </a:solidFill>
                <a:latin typeface="Calibri"/>
              </a:rPr>
              <a:t>•  температур (°C)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262626"/>
                </a:solidFill>
                <a:latin typeface="Calibri"/>
              </a:rPr>
              <a:t>•  салхины хурд (km/h)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262626"/>
                </a:solidFill>
                <a:latin typeface="Calibri"/>
              </a:rPr>
              <a:t>•  харьцангуй чийгшил (%)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262626"/>
                </a:solidFill>
                <a:latin typeface="Calibri"/>
              </a:rPr>
              <a:t>•  гадаргын даралт (hPa)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262626"/>
                </a:solidFill>
                <a:latin typeface="Calibri"/>
              </a:rPr>
              <a:t>•  хур тунадас (mm)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17720" y="1188720"/>
            <a:ext cx="4069080" cy="1874519"/>
          </a:xfrm>
          <a:prstGeom prst="roundRect">
            <a:avLst>
              <a:gd name="adj" fmla="val 6000"/>
            </a:avLst>
          </a:prstGeom>
          <a:solidFill>
            <a:srgbClr val="DEEBF7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800600" y="1325880"/>
            <a:ext cx="3749039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  <a:latin typeface="Calibri"/>
              </a:rPr>
              <a:t>Open-Meteo Air Quality 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1691640"/>
            <a:ext cx="3749039" cy="13258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262626"/>
                </a:solidFill>
                <a:latin typeface="Calibri"/>
              </a:rPr>
              <a:t>•  PM2.5-ийн агууламж (µg/m³)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262626"/>
                </a:solidFill>
                <a:latin typeface="Calibri"/>
              </a:rPr>
              <a:t>•  Зорилтот хувьсагч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246120"/>
            <a:ext cx="274320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EEB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4360" y="3337560"/>
            <a:ext cx="24688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1">
                <a:solidFill>
                  <a:srgbClr val="2E75B6"/>
                </a:solidFill>
                <a:latin typeface="Calibri"/>
              </a:rPr>
              <a:t>БАЙРШИЛ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611880"/>
            <a:ext cx="246888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F4E79"/>
                </a:solidFill>
                <a:latin typeface="Calibri"/>
              </a:rPr>
              <a:t>Улаанбаатар
47.92°N · 106.91°E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37560" y="3246120"/>
            <a:ext cx="274320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EEB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474720" y="3337560"/>
            <a:ext cx="24688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1">
                <a:solidFill>
                  <a:srgbClr val="2E75B6"/>
                </a:solidFill>
                <a:latin typeface="Calibri"/>
              </a:rPr>
              <a:t>ХУГАЦАА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3611880"/>
            <a:ext cx="246888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F4E79"/>
                </a:solidFill>
                <a:latin typeface="Calibri"/>
              </a:rPr>
              <a:t>2019.01.01 –
2024.12.31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246120"/>
            <a:ext cx="274320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EEB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55080" y="3337560"/>
            <a:ext cx="24688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1">
                <a:solidFill>
                  <a:srgbClr val="2E75B6"/>
                </a:solidFill>
                <a:latin typeface="Calibri"/>
              </a:rPr>
              <a:t>НАРИЙВЧЛАЛ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3611880"/>
            <a:ext cx="246888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F4E79"/>
                </a:solidFill>
                <a:latin typeface="Calibri"/>
              </a:rPr>
              <a:t>Цагийн өгөгдөл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4828032"/>
            <a:ext cx="59436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Calibri"/>
              </a:rPr>
              <a:t>PM2.5 таамаглал · Магадлал Статистикийн Төсөл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18120" y="4828032"/>
            <a:ext cx="9144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Calibri"/>
              </a:rPr>
              <a:t>3 / 22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841248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200" b="1">
                <a:solidFill>
                  <a:srgbClr val="1F4E79"/>
                </a:solidFill>
                <a:latin typeface="Calibri"/>
              </a:rPr>
              <a:t>3. Өгөгдөл нэгтгэх урсгал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8368"/>
            <a:ext cx="841248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Calibri"/>
              </a:rPr>
              <a:t>Хоёр API-ийн өгөгдлийг огноо, цагийн баганын дагуу нэгтгэв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987552"/>
            <a:ext cx="8321040" cy="15000"/>
          </a:xfrm>
          <a:prstGeom prst="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65760" y="1417320"/>
            <a:ext cx="1645920" cy="731520"/>
          </a:xfrm>
          <a:prstGeom prst="roundRect">
            <a:avLst>
              <a:gd name="adj" fmla="val 18000"/>
            </a:avLst>
          </a:prstGeom>
          <a:solidFill>
            <a:srgbClr val="DEEBF7"/>
          </a:solidFill>
          <a:ln w="1587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200" b="1">
                <a:solidFill>
                  <a:srgbClr val="1F4E79"/>
                </a:solidFill>
                <a:latin typeface="Calibri"/>
              </a:rPr>
              <a:t>Weather API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148840" y="1636776"/>
            <a:ext cx="548640" cy="292608"/>
          </a:xfrm>
          <a:prstGeom prst="right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788920" y="1417320"/>
            <a:ext cx="1920240" cy="73152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000" b="1">
                <a:solidFill>
                  <a:srgbClr val="1F4E79"/>
                </a:solidFill>
                <a:latin typeface="Calibri"/>
              </a:rPr>
              <a:t>Цаг агаарын
өгөгдлийн хүснэгт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2788920"/>
            <a:ext cx="1645920" cy="731520"/>
          </a:xfrm>
          <a:prstGeom prst="roundRect">
            <a:avLst>
              <a:gd name="adj" fmla="val 18000"/>
            </a:avLst>
          </a:prstGeom>
          <a:solidFill>
            <a:srgbClr val="DEEBF7"/>
          </a:solidFill>
          <a:ln w="1587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200" b="1">
                <a:solidFill>
                  <a:srgbClr val="1F4E79"/>
                </a:solidFill>
                <a:latin typeface="Calibri"/>
              </a:rPr>
              <a:t>Air Quality API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148840" y="3008376"/>
            <a:ext cx="548640" cy="292608"/>
          </a:xfrm>
          <a:prstGeom prst="right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2788920" y="2788920"/>
            <a:ext cx="1920240" cy="73152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000" b="1">
                <a:solidFill>
                  <a:srgbClr val="1F4E79"/>
                </a:solidFill>
                <a:latin typeface="Calibri"/>
              </a:rPr>
              <a:t>PM2.5-ийн
өгөгдлийн хүснэгт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846320" y="1636776"/>
            <a:ext cx="502920" cy="292608"/>
          </a:xfrm>
          <a:prstGeom prst="right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ight Arrow 13"/>
          <p:cNvSpPr/>
          <p:nvPr/>
        </p:nvSpPr>
        <p:spPr>
          <a:xfrm>
            <a:off x="4846320" y="3008376"/>
            <a:ext cx="502920" cy="292608"/>
          </a:xfrm>
          <a:prstGeom prst="right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440680" y="2103120"/>
            <a:ext cx="1645920" cy="731520"/>
          </a:xfrm>
          <a:prstGeom prst="roundRect">
            <a:avLst>
              <a:gd name="adj" fmla="val 18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Огноо, цагаар
нэгтгэх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178040" y="2322576"/>
            <a:ext cx="411480" cy="292608"/>
          </a:xfrm>
          <a:prstGeom prst="right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7635240" y="2103120"/>
            <a:ext cx="1325880" cy="731520"/>
          </a:xfrm>
          <a:prstGeom prst="roundRect">
            <a:avLst>
              <a:gd name="adj" fmla="val 18000"/>
            </a:avLst>
          </a:prstGeom>
          <a:solidFill>
            <a:srgbClr val="DEEBF7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100" b="1">
                <a:solidFill>
                  <a:srgbClr val="1F4E79"/>
                </a:solidFill>
                <a:latin typeface="Calibri"/>
              </a:rPr>
              <a:t>Цэвэрлэсэн
өгөгдөл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8092440" y="2971800"/>
            <a:ext cx="384048" cy="365760"/>
          </a:xfrm>
          <a:prstGeom prst="down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7360920" y="3520440"/>
            <a:ext cx="1874519" cy="731520"/>
          </a:xfrm>
          <a:prstGeom prst="roundRect">
            <a:avLst>
              <a:gd name="adj" fmla="val 18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EDA → Загвар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Calibri"/>
              </a:rPr>
              <a:t>Цаг бүрийн цаг агаарын үзүүлэлт PM2.5-ийн утгатай нэг мөрөнд нэгтгэгдэнэ.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828032"/>
            <a:ext cx="59436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Calibri"/>
              </a:rPr>
              <a:t>PM2.5 таамаглал · Магадлал Статистикийн Төсөл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18120" y="4828032"/>
            <a:ext cx="9144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Calibri"/>
              </a:rPr>
              <a:t>4 / 22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841248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200" b="1">
                <a:solidFill>
                  <a:srgbClr val="1F4E79"/>
                </a:solidFill>
                <a:latin typeface="Calibri"/>
              </a:rPr>
              <a:t>4. Өгөгдлийн цэвэрлэгээ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8368"/>
            <a:ext cx="841248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Calibri"/>
              </a:rPr>
              <a:t>Алдаатай өгөгдлийн мөрүүдийг хасаж, сургалтын/шалгалтын өгөгдөл болгож хуваав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987552"/>
            <a:ext cx="8321040" cy="15000"/>
          </a:xfrm>
          <a:prstGeom prst="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201168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353312"/>
            <a:ext cx="201168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000" b="1">
                <a:solidFill>
                  <a:srgbClr val="2E75B6"/>
                </a:solidFill>
                <a:latin typeface="Calibri"/>
              </a:rPr>
              <a:t>АНХНЫ ӨГӨГДӨЛ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91640"/>
            <a:ext cx="2011680" cy="7772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2200" b="1">
                <a:solidFill>
                  <a:srgbClr val="595959"/>
                </a:solidFill>
                <a:latin typeface="Calibri"/>
              </a:rPr>
              <a:t>43,824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29840" y="1188720"/>
            <a:ext cx="201168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529840" y="1353312"/>
            <a:ext cx="201168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000" b="1">
                <a:solidFill>
                  <a:srgbClr val="2E75B6"/>
                </a:solidFill>
                <a:latin typeface="Calibri"/>
              </a:rPr>
              <a:t>ЦЭВЭРЛЭСНИЙ ДАРАА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29840" y="1691640"/>
            <a:ext cx="2011680" cy="7772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2200" b="1">
                <a:solidFill>
                  <a:srgbClr val="1F4E79"/>
                </a:solidFill>
                <a:latin typeface="Calibri"/>
              </a:rPr>
              <a:t>31,056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2480" y="1188720"/>
            <a:ext cx="201168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02480" y="1353312"/>
            <a:ext cx="201168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000" b="1">
                <a:solidFill>
                  <a:srgbClr val="2E75B6"/>
                </a:solidFill>
                <a:latin typeface="Calibri"/>
              </a:rPr>
              <a:t>УСТГАСАН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02480" y="1691640"/>
            <a:ext cx="2011680" cy="7772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400" b="1">
                <a:solidFill>
                  <a:srgbClr val="2E75B6"/>
                </a:solidFill>
                <a:latin typeface="Calibri"/>
              </a:rPr>
              <a:t>12,768 (29.1%)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75120" y="1188720"/>
            <a:ext cx="201168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75120" y="1353312"/>
            <a:ext cx="201168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000" b="1">
                <a:solidFill>
                  <a:srgbClr val="2E75B6"/>
                </a:solidFill>
                <a:latin typeface="Calibri"/>
              </a:rPr>
              <a:t>СУРГАЛТ / ШАЛГАЛТ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1691640"/>
            <a:ext cx="2011680" cy="7772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400" b="1">
                <a:solidFill>
                  <a:srgbClr val="1F4E79"/>
                </a:solidFill>
                <a:latin typeface="Calibri"/>
              </a:rPr>
              <a:t>24,844 / 6,212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788920"/>
            <a:ext cx="82296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1">
                <a:solidFill>
                  <a:srgbClr val="2E75B6"/>
                </a:solidFill>
                <a:latin typeface="Calibri"/>
              </a:rPr>
              <a:t>ЦЭВЭРЛЭГЭЭНИЙ АЛХМУУД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108960"/>
            <a:ext cx="8229600" cy="9144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262626"/>
                </a:solidFill>
                <a:latin typeface="Calibri"/>
              </a:rPr>
              <a:t>•  NaN утгатай мөрүүдийг устгасан</a:t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262626"/>
                </a:solidFill>
                <a:latin typeface="Calibri"/>
              </a:rPr>
              <a:t>•  Давхардсан огноо, цагийн утгуудыг устгасан</a:t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262626"/>
                </a:solidFill>
                <a:latin typeface="Calibri"/>
              </a:rPr>
              <a:t>•  PM2.5-ийн 0-ээс бага боломжгүй утгуудыг устгасан</a:t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262626"/>
                </a:solidFill>
                <a:latin typeface="Calibri"/>
              </a:rPr>
              <a:t>•  Сургалтын / шалгалтын өгөгдөл 80 / 20 харьцаатай хуваасан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251960"/>
            <a:ext cx="8229600" cy="502920"/>
          </a:xfrm>
          <a:prstGeom prst="roundRect">
            <a:avLst>
              <a:gd name="adj" fmla="val 6000"/>
            </a:avLst>
          </a:prstGeom>
          <a:solidFill>
            <a:srgbClr val="1F4E79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" y="4251960"/>
            <a:ext cx="822960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43,824 мөрөөс 12,768 (29.1%) хасагдан 31,056 цэвэр мөр үлдсэн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4828032"/>
            <a:ext cx="59436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Calibri"/>
              </a:rPr>
              <a:t>PM2.5 таамаглал · Магадлал Статистикийн Төсөл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18120" y="4828032"/>
            <a:ext cx="9144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Calibri"/>
              </a:rPr>
              <a:t>5 / 22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841248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200" b="1">
                <a:solidFill>
                  <a:srgbClr val="1F4E79"/>
                </a:solidFill>
                <a:latin typeface="Calibri"/>
              </a:rPr>
              <a:t>5. Ашигласан оролтын шинжүүд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8368"/>
            <a:ext cx="841248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Calibri"/>
              </a:rPr>
              <a:t>Цаг агаарын анхдагч хувьсагчид болон шинж үүсгэлт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987552"/>
            <a:ext cx="8321040" cy="15000"/>
          </a:xfrm>
          <a:prstGeom prst="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188720"/>
          <a:ext cx="822960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Шинж</a:t>
                      </a:r>
                    </a:p>
                  </a:txBody>
                  <a:tcPr marL="73152" marR="73152" marT="36576" marB="36576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Нэгж</a:t>
                      </a:r>
                    </a:p>
                  </a:txBody>
                  <a:tcPr marL="73152" marR="73152" marT="36576" marB="36576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Тайлбар</a:t>
                      </a:r>
                    </a:p>
                  </a:txBody>
                  <a:tcPr marL="73152" marR="73152" marT="36576" marB="36576"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temperature_2m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°C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Агаарын температур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wind_speed_10m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km/h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Салхины хурд (10 м өндөрт)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relative_humidity_2m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%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Харьцангуй чийгшил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precipitation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mm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Хур тунадасны хэмжээ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surface_pressure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hPa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Гадаргын даралт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month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1–12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Улирлын хэв маяг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hour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0–23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Өдрийн циклийн хэв маяг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heating_season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0 / 1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Түлш түлдэг үе (10–4 сар)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temp_x_wind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°C·km/h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Температур ба салхины харилцан үйлчлэл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F4E79"/>
                          </a:solidFill>
                          <a:latin typeface="Calibri"/>
                        </a:rPr>
                        <a:t>pm2_5</a:t>
                      </a:r>
                    </a:p>
                  </a:txBody>
                  <a:tcPr marL="73152" marR="73152" marT="36576" marB="36576" anchor="ctr"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4E79"/>
                          </a:solidFill>
                          <a:latin typeface="Calibri"/>
                        </a:rPr>
                        <a:t>µg/m³</a:t>
                      </a:r>
                    </a:p>
                  </a:txBody>
                  <a:tcPr marL="73152" marR="73152" marT="36576" marB="36576" anchor="ctr"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F4E79"/>
                          </a:solidFill>
                          <a:latin typeface="Calibri"/>
                        </a:rPr>
                        <a:t>Зорилтот хувьсагч</a:t>
                      </a:r>
                    </a:p>
                  </a:txBody>
                  <a:tcPr marL="73152" marR="73152" marT="36576" marB="36576" anchor="ctr">
                    <a:solidFill>
                      <a:srgbClr val="DE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11480" y="4828032"/>
            <a:ext cx="59436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Calibri"/>
              </a:rPr>
              <a:t>PM2.5 таамаглал · Магадлал Статистикийн Төсөл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4828032"/>
            <a:ext cx="9144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Calibri"/>
              </a:rPr>
              <a:t>6 / 22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841248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200" b="1">
                <a:solidFill>
                  <a:srgbClr val="1F4E79"/>
                </a:solidFill>
                <a:latin typeface="Calibri"/>
              </a:rPr>
              <a:t>6. EDA · Корреляцийн шинжилгээ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8368"/>
            <a:ext cx="841248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Calibri"/>
              </a:rPr>
              <a:t>PM2.5-тэй хамгийн хүчтэй хамааралтай хувьсагчид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987552"/>
            <a:ext cx="8321040" cy="15000"/>
          </a:xfrm>
          <a:prstGeom prst="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correlation_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188720"/>
            <a:ext cx="5303520" cy="2756655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852160" y="1325880"/>
            <a:ext cx="2926080" cy="2606040"/>
          </a:xfrm>
          <a:prstGeom prst="roundRect">
            <a:avLst>
              <a:gd name="adj" fmla="val 6000"/>
            </a:avLst>
          </a:prstGeom>
          <a:solidFill>
            <a:srgbClr val="DEEBF7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89320" y="1463040"/>
            <a:ext cx="265176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1">
                <a:solidFill>
                  <a:srgbClr val="1F4E79"/>
                </a:solidFill>
                <a:latin typeface="Calibri"/>
              </a:rPr>
              <a:t>ГОЛ ДҮГНЭЛТ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89320" y="1783080"/>
            <a:ext cx="2651760" cy="21031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>
                <a:solidFill>
                  <a:srgbClr val="1F4E79"/>
                </a:solidFill>
                <a:latin typeface="Calibri"/>
              </a:rPr>
              <a:t>Температур буурах,</a:t>
            </a:r>
          </a:p>
          <a:p>
            <a:pPr algn="l">
              <a:lnSpc>
                <a:spcPct val="135000"/>
              </a:lnSpc>
            </a:pPr>
            <a:r>
              <a:rPr sz="1300" b="1">
                <a:solidFill>
                  <a:srgbClr val="1F4E79"/>
                </a:solidFill>
                <a:latin typeface="Calibri"/>
              </a:rPr>
              <a:t>түлш түлдэг үе эхлэх,</a:t>
            </a:r>
          </a:p>
          <a:p>
            <a:pPr algn="l">
              <a:lnSpc>
                <a:spcPct val="135000"/>
              </a:lnSpc>
            </a:pPr>
            <a:r>
              <a:rPr sz="1300" b="1">
                <a:solidFill>
                  <a:srgbClr val="1F4E79"/>
                </a:solidFill>
                <a:latin typeface="Calibri"/>
              </a:rPr>
              <a:t>салхи багасах үед</a:t>
            </a:r>
          </a:p>
          <a:p>
            <a:pPr algn="l">
              <a:lnSpc>
                <a:spcPct val="135000"/>
              </a:lnSpc>
            </a:pPr>
            <a:r>
              <a:rPr sz="1300" b="1">
                <a:solidFill>
                  <a:srgbClr val="1F4E79"/>
                </a:solidFill>
                <a:latin typeface="Calibri"/>
              </a:rPr>
              <a:t>PM2.5 өсөх хандлагатай.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069080"/>
            <a:ext cx="82296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95959"/>
                </a:solidFill>
                <a:latin typeface="Calibri"/>
              </a:rPr>
              <a:t>Сөрөг корреляц → урвуу хамаарал  ·  Эерэг корреляц → шууд хамаарал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4828032"/>
            <a:ext cx="59436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Calibri"/>
              </a:rPr>
              <a:t>PM2.5 таамаглал · Магадлал Статистикийн Төсөл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4828032"/>
            <a:ext cx="9144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Calibri"/>
              </a:rPr>
              <a:t>7 / 22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841248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200" b="1">
                <a:solidFill>
                  <a:srgbClr val="1F4E79"/>
                </a:solidFill>
                <a:latin typeface="Calibri"/>
              </a:rPr>
              <a:t>7. Ашигласан загваруудын тойм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8368"/>
            <a:ext cx="841248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Calibri"/>
              </a:rPr>
              <a:t>Гурван өөр шинж чанартай регрессийн загвар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987552"/>
            <a:ext cx="8321040" cy="15000"/>
          </a:xfrm>
          <a:prstGeom prst="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11480" y="1188720"/>
            <a:ext cx="2697480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11480" y="1188720"/>
            <a:ext cx="2697480" cy="6400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Linear Regression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65960"/>
            <a:ext cx="23317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000" b="1">
                <a:solidFill>
                  <a:srgbClr val="2E75B6"/>
                </a:solidFill>
                <a:latin typeface="Calibri"/>
              </a:rPr>
              <a:t>ШУГАМАН ХАМААРАЛ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77440"/>
            <a:ext cx="2331720" cy="1554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0">
                <a:solidFill>
                  <a:srgbClr val="262626"/>
                </a:solidFill>
                <a:latin typeface="Calibri"/>
              </a:rPr>
              <a:t>OLS аргаар хувьсагчдын хооронд шууд шугаман хамаарлыг тогтооно.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32404" y="1188720"/>
            <a:ext cx="2697480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232404" y="1188720"/>
            <a:ext cx="2697480" cy="6400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Bayesian Ridge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15284" y="1965960"/>
            <a:ext cx="23317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000" b="1">
                <a:solidFill>
                  <a:srgbClr val="2E75B6"/>
                </a:solidFill>
                <a:latin typeface="Calibri"/>
              </a:rPr>
              <a:t>REGULARIZATION БА ТОДОРХОЙГҮЙ БАЙДАЛ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15284" y="2377440"/>
            <a:ext cx="2331720" cy="1554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0">
                <a:solidFill>
                  <a:srgbClr val="262626"/>
                </a:solidFill>
                <a:latin typeface="Calibri"/>
              </a:rPr>
              <a:t>Gaussian prior ашиглан загварын коэффициентүүдийг тогтворжуулж, 95%-ийн итгэлцлийн интервалыг тооцоолдог.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53328" y="1188720"/>
            <a:ext cx="2697480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053328" y="1188720"/>
            <a:ext cx="2697480" cy="6400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Decision Tree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36208" y="1965960"/>
            <a:ext cx="23317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000" b="1">
                <a:solidFill>
                  <a:srgbClr val="2E75B6"/>
                </a:solidFill>
                <a:latin typeface="Calibri"/>
              </a:rPr>
              <a:t>ШУГАМАН БУС ХАМААРАЛ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36208" y="2377440"/>
            <a:ext cx="2331720" cy="1554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0">
                <a:solidFill>
                  <a:srgbClr val="262626"/>
                </a:solidFill>
                <a:latin typeface="Calibri"/>
              </a:rPr>
              <a:t>Хувьсагчдыг дараалан хуваан шугаман бус хамаарлыг барина.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4828032"/>
            <a:ext cx="59436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Calibri"/>
              </a:rPr>
              <a:t>PM2.5 таамаглал · Магадлал Статистикийн Төсөл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18120" y="4828032"/>
            <a:ext cx="9144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Calibri"/>
              </a:rPr>
              <a:t>8 / 22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841248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200" b="1">
                <a:solidFill>
                  <a:srgbClr val="1F4E79"/>
                </a:solidFill>
                <a:latin typeface="Calibri"/>
              </a:rPr>
              <a:t>8. Linear Regression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8368"/>
            <a:ext cx="841248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Calibri"/>
              </a:rPr>
              <a:t>Шугаман регрессийн загвар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987552"/>
            <a:ext cx="8321040" cy="15000"/>
          </a:xfrm>
          <a:prstGeom prst="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8229600" cy="777240"/>
          </a:xfrm>
          <a:prstGeom prst="roundRect">
            <a:avLst>
              <a:gd name="adj" fmla="val 6000"/>
            </a:avLst>
          </a:prstGeom>
          <a:solidFill>
            <a:srgbClr val="DEEBF7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8229600" cy="5943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2000" b="1">
                <a:solidFill>
                  <a:srgbClr val="1F4E79"/>
                </a:solidFill>
                <a:latin typeface="Calibri"/>
              </a:rPr>
              <a:t>ŷ = β₀ + β₁x₁ + β₂x₂ + … + βₙxₙ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5029200" cy="20116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>
                <a:solidFill>
                  <a:srgbClr val="262626"/>
                </a:solidFill>
                <a:latin typeface="Calibri"/>
              </a:rPr>
              <a:t>•  StandardScaler ашиглаж µ = 0, σ = 1 болгов</a:t>
            </a:r>
          </a:p>
          <a:p>
            <a:pPr algn="l">
              <a:lnSpc>
                <a:spcPct val="145000"/>
              </a:lnSpc>
            </a:pPr>
            <a:r>
              <a:rPr sz="1300" b="0">
                <a:solidFill>
                  <a:srgbClr val="262626"/>
                </a:solidFill>
                <a:latin typeface="Calibri"/>
              </a:rPr>
              <a:t>•  β коэффициент бүр оролтын шинжийн нөлөөг хэмждэг</a:t>
            </a:r>
          </a:p>
          <a:p>
            <a:pPr algn="l">
              <a:lnSpc>
                <a:spcPct val="145000"/>
              </a:lnSpc>
            </a:pPr>
            <a:r>
              <a:rPr sz="1300" b="0">
                <a:solidFill>
                  <a:srgbClr val="262626"/>
                </a:solidFill>
                <a:latin typeface="Calibri"/>
              </a:rPr>
              <a:t>•  Хэрэгжүүлэхэд хялбар, тайлбарлахад тохиромжтой</a:t>
            </a:r>
          </a:p>
          <a:p>
            <a:pPr algn="l">
              <a:lnSpc>
                <a:spcPct val="145000"/>
              </a:lnSpc>
            </a:pPr>
            <a:r>
              <a:rPr sz="1300" b="0">
                <a:solidFill>
                  <a:srgbClr val="262626"/>
                </a:solidFill>
                <a:latin typeface="Calibri"/>
              </a:rPr>
              <a:t>•  Сул тал: өндөр PM2.5 утгуудыг дутуу таамаглаж болно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52160" y="2286000"/>
            <a:ext cx="2834640" cy="1737360"/>
          </a:xfrm>
          <a:prstGeom prst="roundRect">
            <a:avLst>
              <a:gd name="adj" fmla="val 6000"/>
            </a:avLst>
          </a:prstGeom>
          <a:solidFill>
            <a:srgbClr val="1F4E79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852160" y="2377440"/>
            <a:ext cx="28346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000" b="1">
                <a:solidFill>
                  <a:srgbClr val="DEEBF7"/>
                </a:solidFill>
                <a:latin typeface="Calibri"/>
              </a:rPr>
              <a:t>R² SCORE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2697480"/>
            <a:ext cx="2834640" cy="9601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Calibri"/>
              </a:rPr>
              <a:t>0.517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4828032"/>
            <a:ext cx="59436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Calibri"/>
              </a:rPr>
              <a:t>PM2.5 таамаглал · Магадлал Статистикийн Төсөл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4828032"/>
            <a:ext cx="9144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Calibri"/>
              </a:rPr>
              <a:t>9 / 22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841248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200" b="1">
                <a:solidFill>
                  <a:srgbClr val="1F4E79"/>
                </a:solidFill>
                <a:latin typeface="Calibri"/>
              </a:rPr>
              <a:t>9. Bayesian Ridge Regression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8368"/>
            <a:ext cx="841248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Calibri"/>
              </a:rPr>
              <a:t>Bayesian regularization-той шугаман загвар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987552"/>
            <a:ext cx="8321040" cy="15000"/>
          </a:xfrm>
          <a:prstGeom prst="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8229600" cy="777240"/>
          </a:xfrm>
          <a:prstGeom prst="roundRect">
            <a:avLst>
              <a:gd name="adj" fmla="val 6000"/>
            </a:avLst>
          </a:prstGeom>
          <a:solidFill>
            <a:srgbClr val="DEEBF7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8229600" cy="5943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2000" b="1">
                <a:solidFill>
                  <a:srgbClr val="1F4E79"/>
                </a:solidFill>
                <a:latin typeface="Calibri"/>
              </a:rPr>
              <a:t>P(β | X, y)  ∝  P(y | X, β) · P(β)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5029200" cy="20116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>
                <a:solidFill>
                  <a:srgbClr val="262626"/>
                </a:solidFill>
                <a:latin typeface="Calibri"/>
              </a:rPr>
              <a:t>•  Bayesian regularization → хэт тохирлоос сэргийлдэг</a:t>
            </a:r>
          </a:p>
          <a:p>
            <a:pPr algn="l">
              <a:lnSpc>
                <a:spcPct val="145000"/>
              </a:lnSpc>
            </a:pPr>
            <a:r>
              <a:rPr sz="1300" b="0">
                <a:solidFill>
                  <a:srgbClr val="262626"/>
                </a:solidFill>
                <a:latin typeface="Calibri"/>
              </a:rPr>
              <a:t>•  95%-ийн итгэлцлийн интервал (CI) тооцоолох боломжтой</a:t>
            </a:r>
          </a:p>
          <a:p>
            <a:pPr algn="l">
              <a:lnSpc>
                <a:spcPct val="145000"/>
              </a:lnSpc>
            </a:pPr>
            <a:r>
              <a:rPr sz="1300" b="0">
                <a:solidFill>
                  <a:srgbClr val="262626"/>
                </a:solidFill>
                <a:latin typeface="Calibri"/>
              </a:rPr>
              <a:t>•  max_iter = 500 параметртэйгээр сургав</a:t>
            </a:r>
          </a:p>
          <a:p>
            <a:pPr algn="l">
              <a:lnSpc>
                <a:spcPct val="145000"/>
              </a:lnSpc>
            </a:pPr>
            <a:r>
              <a:rPr sz="1300" b="0">
                <a:solidFill>
                  <a:srgbClr val="262626"/>
                </a:solidFill>
                <a:latin typeface="Calibri"/>
              </a:rPr>
              <a:t>•  Linear Regression-тэй маш төстэй гүйцэтгэлтэй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52160" y="2286000"/>
            <a:ext cx="2834640" cy="1737360"/>
          </a:xfrm>
          <a:prstGeom prst="roundRect">
            <a:avLst>
              <a:gd name="adj" fmla="val 6000"/>
            </a:avLst>
          </a:prstGeom>
          <a:solidFill>
            <a:srgbClr val="1F4E79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852160" y="2377440"/>
            <a:ext cx="28346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000" b="1">
                <a:solidFill>
                  <a:srgbClr val="DEEBF7"/>
                </a:solidFill>
                <a:latin typeface="Calibri"/>
              </a:rPr>
              <a:t>R² SCORE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2697480"/>
            <a:ext cx="2834640" cy="9601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Calibri"/>
              </a:rPr>
              <a:t>0.517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4828032"/>
            <a:ext cx="59436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Calibri"/>
              </a:rPr>
              <a:t>PM2.5 таамаглал · Магадлал Статистикийн Төсөл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4828032"/>
            <a:ext cx="9144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Calibri"/>
              </a:rPr>
              <a:t>10 / 22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841248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200" b="1">
                <a:solidFill>
                  <a:srgbClr val="1F4E79"/>
                </a:solidFill>
                <a:latin typeface="Calibri"/>
              </a:rPr>
              <a:t>10. Decision Tree Regressor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8368"/>
            <a:ext cx="841248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Calibri"/>
              </a:rPr>
              <a:t>Шугаман бус хамаарлыг барих модны загвар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987552"/>
            <a:ext cx="8321040" cy="15000"/>
          </a:xfrm>
          <a:prstGeom prst="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8229600" cy="777240"/>
          </a:xfrm>
          <a:prstGeom prst="roundRect">
            <a:avLst>
              <a:gd name="adj" fmla="val 6000"/>
            </a:avLst>
          </a:prstGeom>
          <a:solidFill>
            <a:srgbClr val="DEEBF7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8229600" cy="5943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2000" b="1">
                <a:solidFill>
                  <a:srgbClr val="1F4E79"/>
                </a:solidFill>
                <a:latin typeface="Calibri"/>
              </a:rPr>
              <a:t>MSE = (1 / n) · Σ (yᵢ − ȳ)²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5029200" cy="20116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>
                <a:solidFill>
                  <a:srgbClr val="262626"/>
                </a:solidFill>
                <a:latin typeface="Calibri"/>
              </a:rPr>
              <a:t>•  Шугаман бус хамаарлыг автоматаар олж барина</a:t>
            </a:r>
          </a:p>
          <a:p>
            <a:pPr algn="l">
              <a:lnSpc>
                <a:spcPct val="145000"/>
              </a:lnSpc>
            </a:pPr>
            <a:r>
              <a:rPr sz="1300" b="0">
                <a:solidFill>
                  <a:srgbClr val="262626"/>
                </a:solidFill>
                <a:latin typeface="Calibri"/>
              </a:rPr>
              <a:t>•  max_depth = 6 · min_samples_leaf = 50</a:t>
            </a:r>
          </a:p>
          <a:p>
            <a:pPr algn="l">
              <a:lnSpc>
                <a:spcPct val="145000"/>
              </a:lnSpc>
            </a:pPr>
            <a:r>
              <a:rPr sz="1300" b="0">
                <a:solidFill>
                  <a:srgbClr val="262626"/>
                </a:solidFill>
                <a:latin typeface="Calibri"/>
              </a:rPr>
              <a:t>•  feature_importances_ → оролтын шинжүүдийн чухлыг хэмждэг</a:t>
            </a:r>
          </a:p>
          <a:p>
            <a:pPr algn="l">
              <a:lnSpc>
                <a:spcPct val="145000"/>
              </a:lnSpc>
            </a:pPr>
            <a:r>
              <a:rPr sz="1300" b="0">
                <a:solidFill>
                  <a:srgbClr val="262626"/>
                </a:solidFill>
                <a:latin typeface="Calibri"/>
              </a:rPr>
              <a:t>•  PM2.5-ийн 0-ээс бага утга таамаглахгүй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52160" y="2286000"/>
            <a:ext cx="2834640" cy="1737360"/>
          </a:xfrm>
          <a:prstGeom prst="roundRect">
            <a:avLst>
              <a:gd name="adj" fmla="val 6000"/>
            </a:avLst>
          </a:prstGeom>
          <a:solidFill>
            <a:srgbClr val="2E75B6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852160" y="2377440"/>
            <a:ext cx="28346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000" b="1">
                <a:solidFill>
                  <a:srgbClr val="DEEBF7"/>
                </a:solidFill>
                <a:latin typeface="Calibri"/>
              </a:rPr>
              <a:t>R² SCORE · ШИЛДЭГ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2697480"/>
            <a:ext cx="2834640" cy="9601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Calibri"/>
              </a:rPr>
              <a:t>0.535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4828032"/>
            <a:ext cx="59436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Calibri"/>
              </a:rPr>
              <a:t>PM2.5 таамаглал · Магадлал Статистикийн Төсөл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4828032"/>
            <a:ext cx="9144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Calibri"/>
              </a:rPr>
              <a:t>11 / 22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841248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200" b="1">
                <a:solidFill>
                  <a:srgbClr val="1F4E79"/>
                </a:solidFill>
                <a:latin typeface="Calibri"/>
              </a:rPr>
              <a:t>11. Загвар сургах ба үнэлэх алхам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8368"/>
            <a:ext cx="841248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Calibri"/>
              </a:rPr>
              <a:t>Сургалт/шалгалт хуваалт → сургах → таамаглах → үнэлэх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987552"/>
            <a:ext cx="8321040" cy="15000"/>
          </a:xfrm>
          <a:prstGeom prst="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57200" y="1691640"/>
            <a:ext cx="1691640" cy="1691640"/>
          </a:xfrm>
          <a:prstGeom prst="roundRect">
            <a:avLst>
              <a:gd name="adj" fmla="val 6000"/>
            </a:avLst>
          </a:prstGeom>
          <a:solidFill>
            <a:srgbClr val="DEEBF7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51560" y="1828800"/>
            <a:ext cx="502920" cy="50292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468880"/>
            <a:ext cx="1600200" cy="5943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300" b="1">
                <a:solidFill>
                  <a:srgbClr val="1F4E79"/>
                </a:solidFill>
                <a:latin typeface="Calibri"/>
              </a:rPr>
              <a:t>Сургалт / Шалгалт
хуваалт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063240"/>
            <a:ext cx="1600200" cy="274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Calibri"/>
              </a:rPr>
              <a:t>80 / 20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176272" y="2372868"/>
            <a:ext cx="432816" cy="329184"/>
          </a:xfrm>
          <a:prstGeom prst="right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2636520" y="1691640"/>
            <a:ext cx="1691640" cy="1691640"/>
          </a:xfrm>
          <a:prstGeom prst="roundRect">
            <a:avLst>
              <a:gd name="adj" fmla="val 6000"/>
            </a:avLst>
          </a:prstGeom>
          <a:solidFill>
            <a:srgbClr val="DEEBF7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3230880" y="1828800"/>
            <a:ext cx="502920" cy="50292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82240" y="2468880"/>
            <a:ext cx="1600200" cy="5943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300" b="1">
                <a:solidFill>
                  <a:srgbClr val="1F4E79"/>
                </a:solidFill>
                <a:latin typeface="Calibri"/>
              </a:rPr>
              <a:t>Загвар
сургах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82240" y="3063240"/>
            <a:ext cx="1600200" cy="274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Calibri"/>
              </a:rPr>
              <a:t>LR · BR · DT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355592" y="2372868"/>
            <a:ext cx="432816" cy="329184"/>
          </a:xfrm>
          <a:prstGeom prst="right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4815840" y="1691640"/>
            <a:ext cx="1691640" cy="1691640"/>
          </a:xfrm>
          <a:prstGeom prst="roundRect">
            <a:avLst>
              <a:gd name="adj" fmla="val 6000"/>
            </a:avLst>
          </a:prstGeom>
          <a:solidFill>
            <a:srgbClr val="DEEBF7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5410200" y="1828800"/>
            <a:ext cx="502920" cy="50292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61560" y="2468880"/>
            <a:ext cx="1600200" cy="5943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300" b="1">
                <a:solidFill>
                  <a:srgbClr val="1F4E79"/>
                </a:solidFill>
                <a:latin typeface="Calibri"/>
              </a:rPr>
              <a:t>Таамаглал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61560" y="3063240"/>
            <a:ext cx="1600200" cy="274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Calibri"/>
              </a:rPr>
              <a:t>y_pred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6534912" y="2372868"/>
            <a:ext cx="432816" cy="329184"/>
          </a:xfrm>
          <a:prstGeom prst="right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995160" y="1691640"/>
            <a:ext cx="1691640" cy="1691640"/>
          </a:xfrm>
          <a:prstGeom prst="roundRect">
            <a:avLst>
              <a:gd name="adj" fmla="val 6000"/>
            </a:avLst>
          </a:prstGeom>
          <a:solidFill>
            <a:srgbClr val="1F4E79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7589520" y="1828800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400" b="1">
                <a:solidFill>
                  <a:srgbClr val="1F4E79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2468880"/>
            <a:ext cx="1600200" cy="5943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Үнэлгээ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3063240"/>
            <a:ext cx="1600200" cy="274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MAE · RMSE · R²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Calibri"/>
              </a:rPr>
              <a:t>Бүх загварыг ижил сургалт/шалгалт хуваалт дээр сургаж, ижил үнэлгээний үзүүлэлтүүдээр харьцуулав.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4828032"/>
            <a:ext cx="59436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Calibri"/>
              </a:rPr>
              <a:t>PM2.5 таамаглал · Магадлал Статистикийн Төсөл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18120" y="4828032"/>
            <a:ext cx="9144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Calibri"/>
              </a:rPr>
              <a:t>12 / 22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841248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200" b="1">
                <a:solidFill>
                  <a:srgbClr val="1F4E79"/>
                </a:solidFill>
                <a:latin typeface="Calibri"/>
              </a:rPr>
              <a:t>12. Загваруудын гүйцэтгэл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8368"/>
            <a:ext cx="841248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Calibri"/>
              </a:rPr>
              <a:t>Decision Tree R² хамгийн өндөр гарав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987552"/>
            <a:ext cx="8321040" cy="15000"/>
          </a:xfrm>
          <a:prstGeom prst="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097280" y="1371600"/>
          <a:ext cx="694944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Загвар</a:t>
                      </a:r>
                    </a:p>
                  </a:txBody>
                  <a:tcPr marL="73152" marR="73152" marT="36576" marB="36576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MAE</a:t>
                      </a:r>
                    </a:p>
                  </a:txBody>
                  <a:tcPr marL="73152" marR="73152" marT="36576" marB="36576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RMSE</a:t>
                      </a:r>
                    </a:p>
                  </a:txBody>
                  <a:tcPr marL="73152" marR="73152" marT="36576" marB="36576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R²</a:t>
                      </a:r>
                    </a:p>
                  </a:txBody>
                  <a:tcPr marL="73152" marR="73152" marT="36576" marB="36576"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62626"/>
                          </a:solidFill>
                          <a:latin typeface="Calibri"/>
                        </a:rPr>
                        <a:t>Linear Regression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~7.x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~10.x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62626"/>
                          </a:solidFill>
                          <a:latin typeface="Calibri"/>
                        </a:rPr>
                        <a:t>0.517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62626"/>
                          </a:solidFill>
                          <a:latin typeface="Calibri"/>
                        </a:rPr>
                        <a:t>Bayesian Ridge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~7.x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~10.x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62626"/>
                          </a:solidFill>
                          <a:latin typeface="Calibri"/>
                        </a:rPr>
                        <a:t>0.517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F4E79"/>
                          </a:solidFill>
                          <a:latin typeface="Calibri"/>
                        </a:rPr>
                        <a:t>Decision Tree</a:t>
                      </a:r>
                    </a:p>
                  </a:txBody>
                  <a:tcPr marL="73152" marR="73152" marT="36576" marB="36576" anchor="ctr"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4E79"/>
                          </a:solidFill>
                          <a:latin typeface="Calibri"/>
                        </a:rPr>
                        <a:t>Хамгийн бага</a:t>
                      </a:r>
                    </a:p>
                  </a:txBody>
                  <a:tcPr marL="73152" marR="73152" marT="36576" marB="36576" anchor="ctr"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4E79"/>
                          </a:solidFill>
                          <a:latin typeface="Calibri"/>
                        </a:rPr>
                        <a:t>Хамгийн бага</a:t>
                      </a:r>
                    </a:p>
                  </a:txBody>
                  <a:tcPr marL="73152" marR="73152" marT="36576" marB="36576" anchor="ctr"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F4E79"/>
                          </a:solidFill>
                          <a:latin typeface="Calibri"/>
                        </a:rPr>
                        <a:t>0.535</a:t>
                      </a:r>
                    </a:p>
                  </a:txBody>
                  <a:tcPr marL="73152" marR="73152" marT="36576" marB="36576" anchor="ctr">
                    <a:solidFill>
                      <a:srgbClr val="DE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1097280" y="3749039"/>
            <a:ext cx="6949440" cy="502920"/>
          </a:xfrm>
          <a:prstGeom prst="roundRect">
            <a:avLst>
              <a:gd name="adj" fmla="val 6000"/>
            </a:avLst>
          </a:prstGeom>
          <a:solidFill>
            <a:srgbClr val="1F4E79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3749039"/>
            <a:ext cx="694944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Decision Tree бүх үнэлгээний үзүүлэлтээр хамгийн сайн үр дүн үзүүлсэн — шугаман бус хамаарлыг илрүүлж байна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4828032"/>
            <a:ext cx="59436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Calibri"/>
              </a:rPr>
              <a:t>PM2.5 таамаглал · Магадлал Статистикийн Төсөл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4828032"/>
            <a:ext cx="9144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Calibri"/>
              </a:rPr>
              <a:t>13 / 22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841248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200" b="1">
                <a:solidFill>
                  <a:srgbClr val="1F4E79"/>
                </a:solidFill>
                <a:latin typeface="Calibri"/>
              </a:rPr>
              <a:t>13. Таамагласан ба бодит утга — Linear Regression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8368"/>
            <a:ext cx="841248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Calibri"/>
              </a:rPr>
              <a:t>Таамагласан ба бодит утгын тархалтын график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987552"/>
            <a:ext cx="8321040" cy="15000"/>
          </a:xfrm>
          <a:prstGeom prst="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slide12_shap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3052671" cy="309067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297680" y="1188720"/>
            <a:ext cx="4389120" cy="1188720"/>
          </a:xfrm>
          <a:prstGeom prst="roundRect">
            <a:avLst>
              <a:gd name="adj" fmla="val 6000"/>
            </a:avLst>
          </a:prstGeom>
          <a:solidFill>
            <a:srgbClr val="1F4E79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297680" y="1234440"/>
            <a:ext cx="438912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00" b="1">
                <a:solidFill>
                  <a:srgbClr val="DEEBF7"/>
                </a:solidFill>
                <a:latin typeface="Calibri"/>
              </a:rPr>
              <a:t>R² SCORE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1554480"/>
            <a:ext cx="4389120" cy="7772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0.517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2514600"/>
            <a:ext cx="4389120" cy="1764792"/>
          </a:xfrm>
          <a:prstGeom prst="roundRect">
            <a:avLst>
              <a:gd name="adj" fmla="val 6000"/>
            </a:avLst>
          </a:prstGeom>
          <a:solidFill>
            <a:srgbClr val="DEEBF7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34840" y="2606040"/>
            <a:ext cx="420624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1">
                <a:solidFill>
                  <a:srgbClr val="1F4E79"/>
                </a:solidFill>
                <a:latin typeface="Calibri"/>
              </a:rPr>
              <a:t>ТАЙЛБАР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2926080"/>
            <a:ext cx="4206240" cy="13258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262626"/>
                </a:solidFill>
                <a:latin typeface="Calibri"/>
              </a:rPr>
              <a:t>•  Бага PM2.5-ийг боломжийн таамагласан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262626"/>
                </a:solidFill>
                <a:latin typeface="Calibri"/>
              </a:rPr>
              <a:t>•  Өндөр утгуудыг (60+ µg/m³) дутуу таамагласан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262626"/>
                </a:solidFill>
                <a:latin typeface="Calibri"/>
              </a:rPr>
              <a:t>•  Зарим тохиолдолд PM2.5-ийн 0-ээс бага утга таамагласан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4828032"/>
            <a:ext cx="59436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Calibri"/>
              </a:rPr>
              <a:t>PM2.5 таамаглал · Магадлал Статистикийн Төсөл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8120" y="4828032"/>
            <a:ext cx="9144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Calibri"/>
              </a:rPr>
              <a:t>14 / 22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841248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200" b="1">
                <a:solidFill>
                  <a:srgbClr val="1F4E79"/>
                </a:solidFill>
                <a:latin typeface="Calibri"/>
              </a:rPr>
              <a:t>14. Таамагласан ба бодит утга — Bayesian 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8368"/>
            <a:ext cx="841248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Calibri"/>
              </a:rPr>
              <a:t>Таамагласан ба бодит утгын тархалтын график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987552"/>
            <a:ext cx="8321040" cy="15000"/>
          </a:xfrm>
          <a:prstGeom prst="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slide13_shap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3014671" cy="309067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297680" y="1188720"/>
            <a:ext cx="4389120" cy="1188720"/>
          </a:xfrm>
          <a:prstGeom prst="roundRect">
            <a:avLst>
              <a:gd name="adj" fmla="val 6000"/>
            </a:avLst>
          </a:prstGeom>
          <a:solidFill>
            <a:srgbClr val="1F4E79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297680" y="1234440"/>
            <a:ext cx="438912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00" b="1">
                <a:solidFill>
                  <a:srgbClr val="DEEBF7"/>
                </a:solidFill>
                <a:latin typeface="Calibri"/>
              </a:rPr>
              <a:t>R² SCORE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1554480"/>
            <a:ext cx="4389120" cy="7772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0.517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2514600"/>
            <a:ext cx="4389120" cy="1764792"/>
          </a:xfrm>
          <a:prstGeom prst="roundRect">
            <a:avLst>
              <a:gd name="adj" fmla="val 6000"/>
            </a:avLst>
          </a:prstGeom>
          <a:solidFill>
            <a:srgbClr val="DEEBF7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34840" y="2606040"/>
            <a:ext cx="420624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1">
                <a:solidFill>
                  <a:srgbClr val="1F4E79"/>
                </a:solidFill>
                <a:latin typeface="Calibri"/>
              </a:rPr>
              <a:t>ТАЙЛБАР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2926080"/>
            <a:ext cx="4206240" cy="13258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262626"/>
                </a:solidFill>
                <a:latin typeface="Calibri"/>
              </a:rPr>
              <a:t>•  LR-тэй маш төстэй тархалт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262626"/>
                </a:solidFill>
                <a:latin typeface="Calibri"/>
              </a:rPr>
              <a:t>•  Regularization нэмэлт давуу тал өгөөгүй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262626"/>
                </a:solidFill>
                <a:latin typeface="Calibri"/>
              </a:rPr>
              <a:t>•  Давуу тал: 95%-ийн итгэлцлийн интервал тооцоолдог (cf. слайд 19)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4828032"/>
            <a:ext cx="59436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Calibri"/>
              </a:rPr>
              <a:t>PM2.5 таамаглал · Магадлал Статистикийн Төсөл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8120" y="4828032"/>
            <a:ext cx="9144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Calibri"/>
              </a:rPr>
              <a:t>15 / 22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841248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200" b="1">
                <a:solidFill>
                  <a:srgbClr val="1F4E79"/>
                </a:solidFill>
                <a:latin typeface="Calibri"/>
              </a:rPr>
              <a:t>15. Таамагласан ба бодит утга — Decision Tree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8368"/>
            <a:ext cx="841248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Calibri"/>
              </a:rPr>
              <a:t>Таамагласан ба бодит утгын тархалтын график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987552"/>
            <a:ext cx="8321040" cy="15000"/>
          </a:xfrm>
          <a:prstGeom prst="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slide14_shap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2959782" cy="309067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297680" y="1188720"/>
            <a:ext cx="4389120" cy="1188720"/>
          </a:xfrm>
          <a:prstGeom prst="roundRect">
            <a:avLst>
              <a:gd name="adj" fmla="val 6000"/>
            </a:avLst>
          </a:prstGeom>
          <a:solidFill>
            <a:srgbClr val="2E75B6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297680" y="1234440"/>
            <a:ext cx="438912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00" b="1">
                <a:solidFill>
                  <a:srgbClr val="DEEBF7"/>
                </a:solidFill>
                <a:latin typeface="Calibri"/>
              </a:rPr>
              <a:t>R² SCORE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1554480"/>
            <a:ext cx="4389120" cy="7772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0.535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2514600"/>
            <a:ext cx="4389120" cy="1764792"/>
          </a:xfrm>
          <a:prstGeom prst="roundRect">
            <a:avLst>
              <a:gd name="adj" fmla="val 6000"/>
            </a:avLst>
          </a:prstGeom>
          <a:solidFill>
            <a:srgbClr val="DEEBF7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34840" y="2606040"/>
            <a:ext cx="420624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1">
                <a:solidFill>
                  <a:srgbClr val="1F4E79"/>
                </a:solidFill>
                <a:latin typeface="Calibri"/>
              </a:rPr>
              <a:t>ТАЙЛБАР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2926080"/>
            <a:ext cx="4206240" cy="13258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262626"/>
                </a:solidFill>
                <a:latin typeface="Calibri"/>
              </a:rPr>
              <a:t>•  Шугаман бус хамаарлыг илүү сайн барьсан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262626"/>
                </a:solidFill>
                <a:latin typeface="Calibri"/>
              </a:rPr>
              <a:t>•  Хэвтээ зурвас — төгсгөлийн зангилаа бүрт тогтмол утга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262626"/>
                </a:solidFill>
                <a:latin typeface="Calibri"/>
              </a:rPr>
              <a:t>•  PM2.5-ийн 0-ээс бага утга таамаглахгүй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4828032"/>
            <a:ext cx="59436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Calibri"/>
              </a:rPr>
              <a:t>PM2.5 таамаглал · Магадлал Статистикийн Төсөл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8120" y="4828032"/>
            <a:ext cx="9144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Calibri"/>
              </a:rPr>
              <a:t>16 / 22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841248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200" b="1">
                <a:solidFill>
                  <a:srgbClr val="1F4E79"/>
                </a:solidFill>
                <a:latin typeface="Calibri"/>
              </a:rPr>
              <a:t>16. R² харьцуулалт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8368"/>
            <a:ext cx="841248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Calibri"/>
              </a:rPr>
              <a:t>Гурван загварын тайлбарлах чадварыг харьцуулав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987552"/>
            <a:ext cx="8321040" cy="15000"/>
          </a:xfrm>
          <a:prstGeom prst="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r2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4937760" cy="2936691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852160" y="1325880"/>
            <a:ext cx="2926080" cy="2606040"/>
          </a:xfrm>
          <a:prstGeom prst="roundRect">
            <a:avLst>
              <a:gd name="adj" fmla="val 6000"/>
            </a:avLst>
          </a:prstGeom>
          <a:solidFill>
            <a:srgbClr val="DEEBF7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89320" y="1463040"/>
            <a:ext cx="265176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1">
                <a:solidFill>
                  <a:srgbClr val="1F4E79"/>
                </a:solidFill>
                <a:latin typeface="Calibri"/>
              </a:rPr>
              <a:t>ДҮГНЭЛТ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89320" y="1783080"/>
            <a:ext cx="2651760" cy="21031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262626"/>
                </a:solidFill>
                <a:latin typeface="Calibri"/>
              </a:rPr>
              <a:t>Decision Tree PM2.5-ийн өөрчлөлтийн</a:t>
            </a:r>
          </a:p>
          <a:p>
            <a:pPr algn="l">
              <a:lnSpc>
                <a:spcPct val="135000"/>
              </a:lnSpc>
            </a:pPr>
            <a:r>
              <a:rPr sz="2200" b="1">
                <a:solidFill>
                  <a:srgbClr val="1F4E79"/>
                </a:solidFill>
                <a:latin typeface="Calibri"/>
              </a:rPr>
              <a:t>53.5%-ийг</a:t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262626"/>
                </a:solidFill>
                <a:latin typeface="Calibri"/>
              </a:rPr>
              <a:t>цаг агаарын өгөгдлөөр тайлбарласан.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4828032"/>
            <a:ext cx="59436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Calibri"/>
              </a:rPr>
              <a:t>PM2.5 таамаглал · Магадлал Статистикийн Төсөл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20" y="4828032"/>
            <a:ext cx="9144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Calibri"/>
              </a:rPr>
              <a:t>17 / 22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841248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200" b="1">
                <a:solidFill>
                  <a:srgbClr val="1F4E79"/>
                </a:solidFill>
                <a:latin typeface="Calibri"/>
              </a:rPr>
              <a:t>17. Шинжийн чухал зэрэглэл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8368"/>
            <a:ext cx="841248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Calibri"/>
              </a:rPr>
              <a:t>Decision Tree-ийн хувьд хамгийн чухал хувьсагчид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987552"/>
            <a:ext cx="8321040" cy="15000"/>
          </a:xfrm>
          <a:prstGeom prst="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5373772" cy="27889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989320" y="1325880"/>
            <a:ext cx="2743200" cy="2606040"/>
          </a:xfrm>
          <a:prstGeom prst="roundRect">
            <a:avLst>
              <a:gd name="adj" fmla="val 6000"/>
            </a:avLst>
          </a:prstGeom>
          <a:solidFill>
            <a:srgbClr val="DEEBF7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126480" y="1463040"/>
            <a:ext cx="246888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1">
                <a:solidFill>
                  <a:srgbClr val="1F4E79"/>
                </a:solidFill>
                <a:latin typeface="Calibri"/>
              </a:rPr>
              <a:t>ХАМГИЙН ЧУХАЛ 3 ШИНЖ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1783080"/>
            <a:ext cx="2468880" cy="21031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F4E79"/>
                </a:solidFill>
                <a:latin typeface="Calibri"/>
              </a:rPr>
              <a:t>temperature_2m</a:t>
            </a:r>
          </a:p>
          <a:p>
            <a:pPr algn="l">
              <a:lnSpc>
                <a:spcPct val="110000"/>
              </a:lnSpc>
            </a:pPr>
            <a:r>
              <a:rPr sz="1800" b="1">
                <a:solidFill>
                  <a:srgbClr val="2E75B6"/>
                </a:solidFill>
                <a:latin typeface="Calibri"/>
              </a:rPr>
              <a:t>53.4 %</a:t>
            </a:r>
          </a:p>
          <a:p>
            <a:pPr algn="l">
              <a:lnSpc>
                <a:spcPct val="110000"/>
              </a:lnSpc>
            </a:pPr>
            <a:r>
              <a:rPr sz="400" b="0">
                <a:solidFill>
                  <a:srgbClr val="262626"/>
                </a:solidFill>
                <a:latin typeface="Calibri"/>
              </a:rPr>
              <a:t> </a:t>
            </a:r>
          </a:p>
          <a:p>
            <a:pPr algn="l">
              <a:lnSpc>
                <a:spcPct val="110000"/>
              </a:lnSpc>
            </a:pPr>
            <a:r>
              <a:rPr sz="1200" b="1">
                <a:solidFill>
                  <a:srgbClr val="1F4E79"/>
                </a:solidFill>
                <a:latin typeface="Calibri"/>
              </a:rPr>
              <a:t>wind_speed_10m</a:t>
            </a:r>
          </a:p>
          <a:p>
            <a:pPr algn="l">
              <a:lnSpc>
                <a:spcPct val="110000"/>
              </a:lnSpc>
            </a:pPr>
            <a:r>
              <a:rPr sz="1600" b="1">
                <a:solidFill>
                  <a:srgbClr val="2E75B6"/>
                </a:solidFill>
                <a:latin typeface="Calibri"/>
              </a:rPr>
              <a:t>18.9 %</a:t>
            </a:r>
          </a:p>
          <a:p>
            <a:pPr algn="l">
              <a:lnSpc>
                <a:spcPct val="110000"/>
              </a:lnSpc>
            </a:pPr>
            <a:r>
              <a:rPr sz="400" b="0">
                <a:solidFill>
                  <a:srgbClr val="262626"/>
                </a:solidFill>
                <a:latin typeface="Calibri"/>
              </a:rPr>
              <a:t> </a:t>
            </a:r>
          </a:p>
          <a:p>
            <a:pPr algn="l">
              <a:lnSpc>
                <a:spcPct val="110000"/>
              </a:lnSpc>
            </a:pPr>
            <a:r>
              <a:rPr sz="1200" b="1">
                <a:solidFill>
                  <a:srgbClr val="1F4E79"/>
                </a:solidFill>
                <a:latin typeface="Calibri"/>
              </a:rPr>
              <a:t>temp_x_wind</a:t>
            </a:r>
          </a:p>
          <a:p>
            <a:pPr algn="l">
              <a:lnSpc>
                <a:spcPct val="110000"/>
              </a:lnSpc>
            </a:pPr>
            <a:r>
              <a:rPr sz="1600" b="1">
                <a:solidFill>
                  <a:srgbClr val="2E75B6"/>
                </a:solidFill>
                <a:latin typeface="Calibri"/>
              </a:rPr>
              <a:t>11.2 %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069080"/>
            <a:ext cx="8229600" cy="411480"/>
          </a:xfrm>
          <a:prstGeom prst="roundRect">
            <a:avLst>
              <a:gd name="adj" fmla="val 6000"/>
            </a:avLst>
          </a:prstGeom>
          <a:solidFill>
            <a:srgbClr val="1F4E79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4069080"/>
            <a:ext cx="8229600" cy="4114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Температур хамгийн чухал хүчин зүйл болсон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4828032"/>
            <a:ext cx="59436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Calibri"/>
              </a:rPr>
              <a:t>PM2.5 таамаглал · Магадлал Статистикийн Төсөл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4828032"/>
            <a:ext cx="9144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Calibri"/>
              </a:rPr>
              <a:t>18 / 22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841248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200" b="1">
                <a:solidFill>
                  <a:srgbClr val="1F4E79"/>
                </a:solidFill>
                <a:latin typeface="Calibri"/>
              </a:rPr>
              <a:t>18. Bayesian Ridge — 95%-ийн итгэлцлийн интервал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8368"/>
            <a:ext cx="841248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Calibri"/>
              </a:rPr>
              <a:t>Тодорхойгүй байдлыг тоон утгаар илэрхийлсэн загвар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987552"/>
            <a:ext cx="8321040" cy="15000"/>
          </a:xfrm>
          <a:prstGeom prst="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slide17_shap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3120930" cy="309067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297680" y="1188720"/>
            <a:ext cx="4389120" cy="3090672"/>
          </a:xfrm>
          <a:prstGeom prst="roundRect">
            <a:avLst>
              <a:gd name="adj" fmla="val 6000"/>
            </a:avLst>
          </a:prstGeom>
          <a:solidFill>
            <a:srgbClr val="DEEBF7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34840" y="1280160"/>
            <a:ext cx="420624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1">
                <a:solidFill>
                  <a:srgbClr val="1F4E79"/>
                </a:solidFill>
                <a:latin typeface="Calibri"/>
              </a:rPr>
              <a:t>АЖИГЛАЛТ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1645920"/>
            <a:ext cx="4206240" cy="2560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262626"/>
                </a:solidFill>
                <a:latin typeface="Calibri"/>
              </a:rPr>
              <a:t>•  95%-ийн итгэлцлийн интервал ихэнх утгыг хамарсан</a:t>
            </a:r>
          </a:p>
          <a:p>
            <a:pPr algn="l">
              <a:lnSpc>
                <a:spcPct val="140000"/>
              </a:lnSpc>
            </a:pPr>
            <a:r>
              <a:rPr sz="1300" b="0">
                <a:solidFill>
                  <a:srgbClr val="262626"/>
                </a:solidFill>
                <a:latin typeface="Calibri"/>
              </a:rPr>
              <a:t>•  Хэт өндөр PM2.5 үед зарим утга интервалаас гарсан</a:t>
            </a:r>
          </a:p>
          <a:p>
            <a:pPr algn="l">
              <a:lnSpc>
                <a:spcPct val="140000"/>
              </a:lnSpc>
            </a:pPr>
            <a:r>
              <a:rPr sz="1300" b="0">
                <a:solidFill>
                  <a:srgbClr val="262626"/>
                </a:solidFill>
                <a:latin typeface="Calibri"/>
              </a:rPr>
              <a:t>•  Бодлого боловсруулагчдад тодорхойгүй байдлыг үнэлэх боломж</a:t>
            </a:r>
          </a:p>
          <a:p>
            <a:pPr algn="l">
              <a:lnSpc>
                <a:spcPct val="140000"/>
              </a:lnSpc>
            </a:pPr>
            <a:r>
              <a:rPr sz="1300" b="0">
                <a:solidFill>
                  <a:srgbClr val="262626"/>
                </a:solidFill>
                <a:latin typeface="Calibri"/>
              </a:rPr>
              <a:t>•  Цэгэн таамаглалд итгэлцлийн интервал нэмэлт мэдээлэл өгдөг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4828032"/>
            <a:ext cx="59436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Calibri"/>
              </a:rPr>
              <a:t>PM2.5 таамаглал · Магадлал Статистикийн Төсөл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20" y="4828032"/>
            <a:ext cx="9144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Calibri"/>
              </a:rPr>
              <a:t>19 / 22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841248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200" b="1">
                <a:solidFill>
                  <a:srgbClr val="1F4E79"/>
                </a:solidFill>
                <a:latin typeface="Calibri"/>
              </a:rPr>
              <a:t>19. Загварын хязгаарлалт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8368"/>
            <a:ext cx="841248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Calibri"/>
              </a:rPr>
              <a:t>Цаашид сайжруулах боломжтой чиглэлүүд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987552"/>
            <a:ext cx="8321040" cy="15000"/>
          </a:xfrm>
          <a:prstGeom prst="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4023360" cy="123444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365760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>
                <a:solidFill>
                  <a:srgbClr val="1F4E79"/>
                </a:solidFill>
                <a:latin typeface="Calibri"/>
              </a:rPr>
              <a:t>Зөвхөн цаг агаарын өгөгдөл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74519"/>
            <a:ext cx="36576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Calibri"/>
              </a:rPr>
              <a:t>Бусад хүчин зүйлс ороогүй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1188720"/>
            <a:ext cx="4023360" cy="123444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846320" y="1371600"/>
            <a:ext cx="365760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>
                <a:solidFill>
                  <a:srgbClr val="1F4E79"/>
                </a:solidFill>
                <a:latin typeface="Calibri"/>
              </a:rPr>
              <a:t>Замын хөдөлгөөн, ялгаруулалт, дүүргийн түвшний өгөгдөл ороогүй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1874519"/>
            <a:ext cx="36576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Calibri"/>
              </a:rPr>
              <a:t>PM2.5-д шууд нөлөөлдөг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560320"/>
            <a:ext cx="4023360" cy="123444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2743200"/>
            <a:ext cx="365760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>
                <a:solidFill>
                  <a:srgbClr val="1F4E79"/>
                </a:solidFill>
                <a:latin typeface="Calibri"/>
              </a:rPr>
              <a:t>Улаанбаатар хотыг төлөөлөх нэг координат дээр суурилсан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246120"/>
            <a:ext cx="36576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Calibri"/>
              </a:rPr>
              <a:t>Улаанбаатар хотыг төлөөлөх координат 47.92°N, 106.91°E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63440" y="2560320"/>
            <a:ext cx="4023360" cy="123444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846320" y="2743200"/>
            <a:ext cx="365760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>
                <a:solidFill>
                  <a:srgbClr val="1F4E79"/>
                </a:solidFill>
                <a:latin typeface="Calibri"/>
              </a:rPr>
              <a:t>Урт хугацааны шууд таамаглал биш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3246120"/>
            <a:ext cx="36576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Calibri"/>
              </a:rPr>
              <a:t>Цаг агаарын урьдчилсан мэдээ хэрэгтэй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931920"/>
            <a:ext cx="8229600" cy="548640"/>
          </a:xfrm>
          <a:prstGeom prst="roundRect">
            <a:avLst>
              <a:gd name="adj" fmla="val 6000"/>
            </a:avLst>
          </a:prstGeom>
          <a:solidFill>
            <a:srgbClr val="DEEBF7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" y="3931920"/>
            <a:ext cx="822960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300" b="1">
                <a:solidFill>
                  <a:srgbClr val="1F4E79"/>
                </a:solidFill>
                <a:latin typeface="Calibri"/>
              </a:rPr>
              <a:t>Цаг агаарын урьдчилсан мэдээ ашиглавал 24–72 цагийн PM2.5 таамаглал хийх боломжтой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828032"/>
            <a:ext cx="59436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Calibri"/>
              </a:rPr>
              <a:t>PM2.5 таамаглал · Магадлал Статистикийн Төсөл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18120" y="4828032"/>
            <a:ext cx="9144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Calibri"/>
              </a:rPr>
              <a:t>20 / 22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841248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200" b="1">
                <a:solidFill>
                  <a:srgbClr val="1F4E79"/>
                </a:solidFill>
                <a:latin typeface="Calibri"/>
              </a:rPr>
              <a:t>20. Дүгнэлт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8368"/>
            <a:ext cx="841248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Calibri"/>
              </a:rPr>
              <a:t>Судалгааны үндсэн үр дүн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987552"/>
            <a:ext cx="8321040" cy="15000"/>
          </a:xfrm>
          <a:prstGeom prst="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8229600" cy="2606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1">
                <a:solidFill>
                  <a:srgbClr val="1F4E79"/>
                </a:solidFill>
                <a:latin typeface="Calibri"/>
              </a:rPr>
              <a:t>•  Decision Tree хамгийн сайн загвар: R² = 0.535</a:t>
            </a:r>
          </a:p>
          <a:p>
            <a:pPr algn="l">
              <a:lnSpc>
                <a:spcPct val="155000"/>
              </a:lnSpc>
            </a:pPr>
            <a:r>
              <a:rPr sz="1400" b="0">
                <a:solidFill>
                  <a:srgbClr val="262626"/>
                </a:solidFill>
                <a:latin typeface="Calibri"/>
              </a:rPr>
              <a:t>•  Температур хамгийн чухал хүчин зүйл: 53.4 %</a:t>
            </a:r>
          </a:p>
          <a:p>
            <a:pPr algn="l">
              <a:lnSpc>
                <a:spcPct val="155000"/>
              </a:lnSpc>
            </a:pPr>
            <a:r>
              <a:rPr sz="1400" b="0">
                <a:solidFill>
                  <a:srgbClr val="262626"/>
                </a:solidFill>
                <a:latin typeface="Calibri"/>
              </a:rPr>
              <a:t>•  Салхины хурд хоёр дахь чухал хүчин зүйл: 18.9 %</a:t>
            </a:r>
          </a:p>
          <a:p>
            <a:pPr algn="l">
              <a:lnSpc>
                <a:spcPct val="155000"/>
              </a:lnSpc>
            </a:pPr>
            <a:r>
              <a:rPr sz="1400" b="0">
                <a:solidFill>
                  <a:srgbClr val="262626"/>
                </a:solidFill>
                <a:latin typeface="Calibri"/>
              </a:rPr>
              <a:t>•  Цаг агаарын өгөгдлөөр PM2.5-ийг дунд түвшний нарийвчлалтай таамаглаж чадсан</a:t>
            </a:r>
          </a:p>
          <a:p>
            <a:pPr algn="l">
              <a:lnSpc>
                <a:spcPct val="155000"/>
              </a:lnSpc>
            </a:pPr>
            <a:r>
              <a:rPr sz="1400" b="0">
                <a:solidFill>
                  <a:srgbClr val="262626"/>
                </a:solidFill>
                <a:latin typeface="Calibri"/>
              </a:rPr>
              <a:t>•  Нэмэлт өгөгдөл (замын хөдөлгөөн, ялгаруулалт) оруулбал загвар сайжрах боломжтой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794760"/>
            <a:ext cx="8229600" cy="777240"/>
          </a:xfrm>
          <a:prstGeom prst="roundRect">
            <a:avLst>
              <a:gd name="adj" fmla="val 6000"/>
            </a:avLst>
          </a:prstGeom>
          <a:solidFill>
            <a:srgbClr val="1F4E79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3794760"/>
            <a:ext cx="8046720" cy="7772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Энэ судалгаа нь цаг агаарын урьдчилсан мэдээг ашиглан агаарын чанарын богино хугацааны анхааруулга хийх боломжтойг харуулж байна.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4828032"/>
            <a:ext cx="59436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Calibri"/>
              </a:rPr>
              <a:t>PM2.5 таамаглал · Магадлал Статистикийн Төсөл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4828032"/>
            <a:ext cx="9144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Calibri"/>
              </a:rPr>
              <a:t>21 / 22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200" b="1">
                <a:solidFill>
                  <a:srgbClr val="2E75B6"/>
                </a:solidFill>
                <a:latin typeface="Calibri"/>
              </a:rPr>
              <a:t>БАГИЙН ОРОЛЦОО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822960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Баярлалаа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0060" y="2103120"/>
            <a:ext cx="260604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80060" y="2377440"/>
            <a:ext cx="260604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800" b="1">
                <a:solidFill>
                  <a:srgbClr val="1F4E79"/>
                </a:solidFill>
                <a:latin typeface="Calibri"/>
              </a:rPr>
              <a:t>Д. Аахангай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" y="2926080"/>
            <a:ext cx="260604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200" b="0">
                <a:solidFill>
                  <a:srgbClr val="595959"/>
                </a:solidFill>
                <a:latin typeface="Calibri"/>
              </a:rPr>
              <a:t>Тайлан болон танилцуулга бэлтгэх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68980" y="2103120"/>
            <a:ext cx="260604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68980" y="2377440"/>
            <a:ext cx="260604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800" b="1">
                <a:solidFill>
                  <a:srgbClr val="1F4E79"/>
                </a:solidFill>
                <a:latin typeface="Calibri"/>
              </a:rPr>
              <a:t>Б. Өсөхбаяр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68980" y="2926080"/>
            <a:ext cx="260604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200" b="0">
                <a:solidFill>
                  <a:srgbClr val="595959"/>
                </a:solidFill>
                <a:latin typeface="Calibri"/>
              </a:rPr>
              <a:t>Өгөгдөл бэлтгэх, ерөнхий загвар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57900" y="2103120"/>
            <a:ext cx="260604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057900" y="2377440"/>
            <a:ext cx="260604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800" b="1">
                <a:solidFill>
                  <a:srgbClr val="1F4E79"/>
                </a:solidFill>
                <a:latin typeface="Calibri"/>
              </a:rPr>
              <a:t>А. Баясгалан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57900" y="2926080"/>
            <a:ext cx="260604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200" b="0">
                <a:solidFill>
                  <a:srgbClr val="595959"/>
                </a:solidFill>
                <a:latin typeface="Calibri"/>
              </a:rPr>
              <a:t>Python дээр загвар сургах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Асуулт байна уу?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000" b="0">
                <a:solidFill>
                  <a:srgbClr val="DEEBF7"/>
                </a:solidFill>
                <a:latin typeface="Calibri"/>
              </a:rPr>
              <a:t>PM2.5 таамаглал · Магадлал Статистикийн Төсөл ·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1445</Words>
  <Application>Microsoft Macintosh PowerPoint</Application>
  <PresentationFormat>On-screen Show (16:9)</PresentationFormat>
  <Paragraphs>294</Paragraphs>
  <Slides>22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USUKHBAYAR Batbaatar</cp:lastModifiedBy>
  <cp:revision>2</cp:revision>
  <dcterms:created xsi:type="dcterms:W3CDTF">2013-01-27T09:14:16Z</dcterms:created>
  <dcterms:modified xsi:type="dcterms:W3CDTF">2026-05-19T16:45:18Z</dcterms:modified>
  <cp:category/>
</cp:coreProperties>
</file>